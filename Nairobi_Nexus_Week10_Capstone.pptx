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2863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🗞️ NAIROBI NEXUS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10515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AI Newsletter System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20040" y="2103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Final Capstone Project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2651760"/>
            <a:ext cx="3200400" cy="274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83464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Waliaula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 Nyambura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Automation  •  AI Workflow Engineering  •  June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66560" y="548640"/>
            <a:ext cx="1371600" cy="100584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658368"/>
            <a:ext cx="13716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39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766560" y="1172261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Workflow Nodes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766560" y="1691640"/>
            <a:ext cx="1371600" cy="1005840"/>
          </a:xfrm>
          <a:prstGeom prst="rect">
            <a:avLst/>
          </a:prstGeom>
          <a:solidFill>
            <a:srgbClr val="182840"/>
          </a:solidFill>
          <a:ln w="12700">
            <a:solidFill>
              <a:srgbClr val="1828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1801368"/>
            <a:ext cx="13716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5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766560" y="2315261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News Sources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2834640"/>
            <a:ext cx="1371600" cy="100584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2944368"/>
            <a:ext cx="13716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2×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766560" y="3458261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Fault Layers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66560" y="3931920"/>
            <a:ext cx="1371600" cy="960120"/>
          </a:xfrm>
          <a:prstGeom prst="rect">
            <a:avLst/>
          </a:prstGeom>
          <a:solidFill>
            <a:srgbClr val="182840"/>
          </a:solidFill>
          <a:ln w="12700">
            <a:solidFill>
              <a:srgbClr val="1828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4041648"/>
            <a:ext cx="137160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40pts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766560" y="4527194"/>
            <a:ext cx="137160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Final Capstone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502920" cy="73152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4721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Original Week 8 Design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7647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Architecture, assumptions &amp; what it built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3931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286000"/>
            <a:ext cx="50292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8600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23408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Identified Weaknesses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6334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Where the prototype could fail or mislead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3931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154680"/>
            <a:ext cx="502920" cy="73152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5468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32095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Structured AI Output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35021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JSON enforcement across all agents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3931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023360"/>
            <a:ext cx="50292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2336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40782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Fault Tolerance Upgrades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" y="43708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Graceful degradation at every layer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1417320"/>
            <a:ext cx="3931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417320"/>
            <a:ext cx="502920" cy="73152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4173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40680" y="14721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Model Selection &amp; Fallbacks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40680" y="17647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Primary vs fallback strategy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2286000"/>
            <a:ext cx="3931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2286000"/>
            <a:ext cx="50292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28600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40680" y="23408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Operational Logging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40680" y="26334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Governance, auditability &amp; Google Sheets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3154680"/>
            <a:ext cx="3931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3154680"/>
            <a:ext cx="502920" cy="73152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15468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440680" y="32095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Why It's More Robust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40680" y="35021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Production-grade vs prototype comparison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WEEK 8 FOUNDATION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Design — The Functional Prototype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What we built in Week 8: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5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83080"/>
            <a:ext cx="64008" cy="129844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8562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⏰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1792" y="22219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Trigger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2542032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every Friday 2:00 PM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Africa/Nairobi timezone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10128" y="1783080"/>
            <a:ext cx="265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0128" y="1783080"/>
            <a:ext cx="64008" cy="129844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8562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74720" y="22219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Parallel HTTP Branches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2542032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TechCabal, Business Daily, The Star,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Media, Kenyan Wall Street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63056" y="1783080"/>
            <a:ext cx="265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63056" y="1783080"/>
            <a:ext cx="64008" cy="129844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18562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27648" y="22219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Reporter Agents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27648" y="2542032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branch: own AI agent → extracts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headline as structured JSON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265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246120"/>
            <a:ext cx="64008" cy="129844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319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🔀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21792" y="36850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Intelligence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4005072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mode merge of all 5 branch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into one combined list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10128" y="3246120"/>
            <a:ext cx="265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10128" y="3246120"/>
            <a:ext cx="64008" cy="129844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3319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✍️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474720" y="36850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Editor — Kamau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74720" y="4005072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synthesises witty newsletter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Kenyan slang under 200 words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63056" y="3246120"/>
            <a:ext cx="265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63056" y="3246120"/>
            <a:ext cx="64008" cy="129844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3319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327648" y="36850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&amp; Deliver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27648" y="4005072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logging + styled Gmail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marketing team for approval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F7173"/>
                </a:solidFill>
              </a:rPr>
              <a:t>✅  True distributed parallel architecture  •  Each HTTP paired with its own AI agent  •  Fault tolerant HTTP nodes  •  Fallback editor model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535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0" y="1047340"/>
            <a:ext cx="1645920" cy="502920"/>
          </a:xfrm>
          <a:prstGeom prst="rect">
            <a:avLst/>
          </a:prstGeom>
          <a:solidFill>
            <a:srgbClr val="0F7173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0" y="10473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⏰  Schedule Trigger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663440" y="1550260"/>
            <a:ext cx="0" cy="182880"/>
          </a:xfrm>
          <a:prstGeom prst="line">
            <a:avLst/>
          </a:prstGeom>
          <a:noFill/>
          <a:ln w="25400">
            <a:solidFill>
              <a:srgbClr val="E9C4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870300"/>
            <a:ext cx="1417320" cy="438912"/>
          </a:xfrm>
          <a:prstGeom prst="rect">
            <a:avLst/>
          </a:prstGeom>
          <a:solidFill>
            <a:srgbClr val="182840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703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📡 HTTP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TechCabal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120140" y="2309212"/>
            <a:ext cx="0" cy="164592"/>
          </a:xfrm>
          <a:prstGeom prst="line">
            <a:avLst/>
          </a:prstGeom>
          <a:noFill/>
          <a:ln w="12700">
            <a:solidFill>
              <a:srgbClr val="0F717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473804"/>
            <a:ext cx="1417320" cy="457200"/>
          </a:xfrm>
          <a:prstGeom prst="rect">
            <a:avLst/>
          </a:prstGeom>
          <a:solidFill>
            <a:srgbClr val="0F7173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47380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🤖 AI Agent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TechCabal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965960" y="1870300"/>
            <a:ext cx="1417320" cy="438912"/>
          </a:xfrm>
          <a:prstGeom prst="rect">
            <a:avLst/>
          </a:prstGeom>
          <a:solidFill>
            <a:srgbClr val="182840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18703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📡 HTTP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Business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Daily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674620" y="2309212"/>
            <a:ext cx="0" cy="164592"/>
          </a:xfrm>
          <a:prstGeom prst="line">
            <a:avLst/>
          </a:prstGeom>
          <a:noFill/>
          <a:ln w="12700">
            <a:solidFill>
              <a:srgbClr val="0F717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65960" y="2473804"/>
            <a:ext cx="1417320" cy="457200"/>
          </a:xfrm>
          <a:prstGeom prst="rect">
            <a:avLst/>
          </a:prstGeom>
          <a:solidFill>
            <a:srgbClr val="0F7173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65960" y="247380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🤖 AI Agent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Business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Daily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520440" y="1870300"/>
            <a:ext cx="1417320" cy="438912"/>
          </a:xfrm>
          <a:prstGeom prst="rect">
            <a:avLst/>
          </a:prstGeom>
          <a:solidFill>
            <a:srgbClr val="182840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18703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📡 HTTP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The Star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229100" y="2309212"/>
            <a:ext cx="0" cy="164592"/>
          </a:xfrm>
          <a:prstGeom prst="line">
            <a:avLst/>
          </a:prstGeom>
          <a:noFill/>
          <a:ln w="12700">
            <a:solidFill>
              <a:srgbClr val="0F717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0440" y="2473804"/>
            <a:ext cx="1417320" cy="457200"/>
          </a:xfrm>
          <a:prstGeom prst="rect">
            <a:avLst/>
          </a:prstGeom>
          <a:solidFill>
            <a:srgbClr val="0F7173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247380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🤖 AI Agent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The Star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074920" y="1870300"/>
            <a:ext cx="1417320" cy="438912"/>
          </a:xfrm>
          <a:prstGeom prst="rect">
            <a:avLst/>
          </a:prstGeom>
          <a:solidFill>
            <a:srgbClr val="182840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18703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📡 HTTP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Standard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Media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783580" y="2309212"/>
            <a:ext cx="0" cy="164592"/>
          </a:xfrm>
          <a:prstGeom prst="line">
            <a:avLst/>
          </a:prstGeom>
          <a:noFill/>
          <a:ln w="12700">
            <a:solidFill>
              <a:srgbClr val="0F717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74920" y="2473804"/>
            <a:ext cx="1417320" cy="457200"/>
          </a:xfrm>
          <a:prstGeom prst="rect">
            <a:avLst/>
          </a:prstGeom>
          <a:solidFill>
            <a:srgbClr val="0F7173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247380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🤖 AI Agent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Standard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Media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629400" y="1870300"/>
            <a:ext cx="1417320" cy="438912"/>
          </a:xfrm>
          <a:prstGeom prst="rect">
            <a:avLst/>
          </a:prstGeom>
          <a:solidFill>
            <a:srgbClr val="182840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18703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📡 HTTP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Kenyan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Wall St.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338060" y="2309212"/>
            <a:ext cx="0" cy="164592"/>
          </a:xfrm>
          <a:prstGeom prst="line">
            <a:avLst/>
          </a:prstGeom>
          <a:noFill/>
          <a:ln w="12700">
            <a:solidFill>
              <a:srgbClr val="0F717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29400" y="2473804"/>
            <a:ext cx="1417320" cy="457200"/>
          </a:xfrm>
          <a:prstGeom prst="rect">
            <a:avLst/>
          </a:prstGeom>
          <a:solidFill>
            <a:srgbClr val="0F7173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247380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🤖 AI Agent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Kenyan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Wall St.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120140" y="2931004"/>
            <a:ext cx="0" cy="228600"/>
          </a:xfrm>
          <a:prstGeom prst="line">
            <a:avLst/>
          </a:prstGeom>
          <a:noFill/>
          <a:ln w="12700">
            <a:solidFill>
              <a:srgbClr val="E9C4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74620" y="2931004"/>
            <a:ext cx="0" cy="228600"/>
          </a:xfrm>
          <a:prstGeom prst="line">
            <a:avLst/>
          </a:prstGeom>
          <a:noFill/>
          <a:ln w="12700">
            <a:solidFill>
              <a:srgbClr val="E9C46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29100" y="2931004"/>
            <a:ext cx="0" cy="228600"/>
          </a:xfrm>
          <a:prstGeom prst="line">
            <a:avLst/>
          </a:prstGeom>
          <a:noFill/>
          <a:ln w="12700">
            <a:solidFill>
              <a:srgbClr val="E9C46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83580" y="2931004"/>
            <a:ext cx="0" cy="228600"/>
          </a:xfrm>
          <a:prstGeom prst="line">
            <a:avLst/>
          </a:prstGeom>
          <a:noFill/>
          <a:ln w="12700">
            <a:solidFill>
              <a:srgbClr val="E9C46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38060" y="2931004"/>
            <a:ext cx="0" cy="228600"/>
          </a:xfrm>
          <a:prstGeom prst="line">
            <a:avLst/>
          </a:prstGeom>
          <a:noFill/>
          <a:ln w="12700">
            <a:solidFill>
              <a:srgbClr val="E9C46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17520" y="3159604"/>
            <a:ext cx="3291840" cy="457200"/>
          </a:xfrm>
          <a:prstGeom prst="rect">
            <a:avLst/>
          </a:prstGeom>
          <a:solidFill>
            <a:srgbClr val="0F4C75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17520" y="315960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9C46A"/>
                </a:solidFill>
              </a:rPr>
              <a:t>🔀  Merging Intelligence  (Append Mode)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3616804"/>
            <a:ext cx="0" cy="201168"/>
          </a:xfrm>
          <a:prstGeom prst="line">
            <a:avLst/>
          </a:prstGeom>
          <a:noFill/>
          <a:ln w="25400">
            <a:solidFill>
              <a:srgbClr val="E9C46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83280" y="3817972"/>
            <a:ext cx="2560320" cy="502920"/>
          </a:xfrm>
          <a:prstGeom prst="rect">
            <a:avLst/>
          </a:prstGeom>
          <a:solidFill>
            <a:srgbClr val="0F71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0" y="38179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✍️  Chief Editor — Kamau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(GPT-4o-mini  +  Structured Output)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886200" y="4320892"/>
            <a:ext cx="0" cy="182880"/>
          </a:xfrm>
          <a:prstGeom prst="line">
            <a:avLst/>
          </a:prstGeom>
          <a:noFill/>
          <a:ln w="12700">
            <a:solidFill>
              <a:srgbClr val="E9C46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0" y="4705642"/>
            <a:ext cx="274320" cy="0"/>
          </a:xfrm>
          <a:prstGeom prst="line">
            <a:avLst/>
          </a:prstGeom>
          <a:noFill/>
          <a:ln w="12700">
            <a:solidFill>
              <a:srgbClr val="E9C46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26080" y="4503772"/>
            <a:ext cx="1645920" cy="411480"/>
          </a:xfrm>
          <a:prstGeom prst="rect">
            <a:avLst/>
          </a:prstGeom>
          <a:solidFill>
            <a:srgbClr val="182840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26080" y="45037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📊 Google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Sheets Log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53354" y="4485484"/>
            <a:ext cx="1645920" cy="411480"/>
          </a:xfrm>
          <a:prstGeom prst="rect">
            <a:avLst/>
          </a:prstGeom>
          <a:solidFill>
            <a:srgbClr val="182840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45037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📧 Gmail →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Marketing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74320" y="48920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[ Add screenshot: n8n canvas showing full parallel workflow ]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PROBLEM STATEMENT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 — And Where It Could Break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3931920" cy="38404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WHAT WORKED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distributed parallel architecture (5 branches)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HTTP paired with its own AI Field Reporter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continueRegularOutput on all HTTP nodes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Editor error branch → Backup Agent fallback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+ Google Sheets delivery pipeline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Witty Kenyan slang newsletter output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71600"/>
            <a:ext cx="3931920" cy="3840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3716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⚠️  WEAKNESSES IDENTIFIED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8745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Output Parser schema mismatch — article schema on newsletter output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newsletter could break downstream nodes silently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validation = AI could output anything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mapping used wrong field key ($json.output.newsletter)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caused simultaneous agent calls to fail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governance: couldn't audit which model ran or how many sources succeeded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UPGRADE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AI Output &amp; JSON Reliability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21163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9C46A"/>
                </a:solidFill>
              </a:rPr>
              <a:t>Every agent now outputs strict, validated JSON — the system never guesses what the AI meant.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78363"/>
            <a:ext cx="4114800" cy="3017520"/>
          </a:xfrm>
          <a:prstGeom prst="rect">
            <a:avLst/>
          </a:prstGeom>
          <a:solidFill>
            <a:srgbClr val="0A2540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78363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173"/>
                </a:solidFill>
              </a:rPr>
              <a:t>FIELD REPORTER SCHEMA  (×5 Agents)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2008131"/>
            <a:ext cx="3840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"object",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"properties":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"source":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"string",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"description": "Publication name"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"headline":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"string",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"description": "Top tech/business headline"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"status":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"string",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"description": "'success' or 'offline'"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"required": ["source","headline","status"]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54880" y="1412850"/>
            <a:ext cx="3931920" cy="3287064"/>
          </a:xfrm>
          <a:prstGeom prst="rect">
            <a:avLst/>
          </a:prstGeom>
          <a:solidFill>
            <a:srgbClr val="0A2540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41285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9C46A"/>
                </a:solidFill>
              </a:rPr>
              <a:t>CHIEF EDITOR SCHEMA  (Kamau)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92040" y="1842618"/>
            <a:ext cx="3657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9D7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9D7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"object",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9D7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"properties":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9D7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"newsletter_title":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9D7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"string"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9D7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9D7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"newsletter_body":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9D7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"string",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9D7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"description": "Full Markdown newsletter"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9D7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9D7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"sources_used":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9D7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"array",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9D7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"items": { "type": "string"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9D7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9D7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"word_count":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9D7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"integer"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9D7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9D7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9D7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"required": 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9D7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"newsletter_title",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9D7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"newsletter_body",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9D7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"sources_used"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9D7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9D7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4782210"/>
            <a:ext cx="8262355" cy="376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Why this matters: Downstream nodes (Google Sheets, Gmail) can reliably reference $json.output.newsletter_body instead of guessing field names. Malformed AI responses are caught at the parser, not silently passed on.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UPGRADE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54167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 &amp; Resilient Design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29768" y="112928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F7173"/>
                </a:solidFill>
              </a:rPr>
              <a:t>A production system degrades gracefully — it does not collapse.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54480"/>
            <a:ext cx="269748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5448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🌐  Layer 1 — HTTP Safety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9768" y="210312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onError: continueRegularOutput on ALL 5 HTTP nodes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source → Field Reporter receives fallback text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marks status: 'offline' in JSON output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node collects ALL branches regardless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Editor filters silently by status === 'success'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72968" y="155448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1554480"/>
            <a:ext cx="2697480" cy="47548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55448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🔁  Layer 2 — Model Fallback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82696" y="210312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Editor: onError: continueErrorOutput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fails (timeout/quota) → Error Branch fires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Editor AI Agent activates automatically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GPT-4-turbo (OpenRouter) as fallback model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Chief and Backup: executeOnce: true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25896" y="155448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25896" y="1554480"/>
            <a:ext cx="269748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17336" y="155448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🛡️  Layer 3 — Field Reporter Fallbacks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35624" y="210312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Field Reporter has its own fallback LLM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Daily, The Star, Standard, KWS all have OpenRouter fallback models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primary OpenAI call fails, OpenRouter takes over per branch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isolated — one reporter failing doesn't cascade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branch is fully independent from trigger to merge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UPGRADE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Selection, Constraints &amp; Fallbacks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207349"/>
            <a:ext cx="1645920" cy="384048"/>
          </a:xfrm>
          <a:prstGeom prst="rect">
            <a:avLst/>
          </a:prstGeom>
          <a:solidFill>
            <a:srgbClr val="0F7173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07349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Agent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65960" y="1207349"/>
            <a:ext cx="1645920" cy="384048"/>
          </a:xfrm>
          <a:prstGeom prst="rect">
            <a:avLst/>
          </a:prstGeom>
          <a:solidFill>
            <a:srgbClr val="0F7173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1207349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Primary Model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11880" y="1207349"/>
            <a:ext cx="1645920" cy="384048"/>
          </a:xfrm>
          <a:prstGeom prst="rect">
            <a:avLst/>
          </a:prstGeom>
          <a:solidFill>
            <a:srgbClr val="0F7173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207349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Fallback Model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257800" y="1207349"/>
            <a:ext cx="1645920" cy="384048"/>
          </a:xfrm>
          <a:prstGeom prst="rect">
            <a:avLst/>
          </a:prstGeom>
          <a:solidFill>
            <a:srgbClr val="0F7173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0" y="1207349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executeOnce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03720" y="1207349"/>
            <a:ext cx="1645920" cy="384048"/>
          </a:xfrm>
          <a:prstGeom prst="rect">
            <a:avLst/>
          </a:prstGeom>
          <a:solidFill>
            <a:srgbClr val="0F7173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1207349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Role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1591397"/>
            <a:ext cx="1645920" cy="658368"/>
          </a:xfrm>
          <a:prstGeom prst="rect">
            <a:avLst/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591397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Field Reporters (×5)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965960" y="1591397"/>
            <a:ext cx="1645920" cy="658368"/>
          </a:xfrm>
          <a:prstGeom prst="rect">
            <a:avLst/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1591397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GPT-4o-mini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(OpenAI)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11880" y="1591397"/>
            <a:ext cx="1645920" cy="658368"/>
          </a:xfrm>
          <a:prstGeom prst="rect">
            <a:avLst/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1591397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OpenRouter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(per branch)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257800" y="1591397"/>
            <a:ext cx="1645920" cy="658368"/>
          </a:xfrm>
          <a:prstGeom prst="rect">
            <a:avLst/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1591397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No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903720" y="1591397"/>
            <a:ext cx="1645920" cy="658368"/>
          </a:xfrm>
          <a:prstGeom prst="rect">
            <a:avLst/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1591397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JSON extractor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2249765"/>
            <a:ext cx="1645920" cy="658368"/>
          </a:xfrm>
          <a:prstGeom prst="rect">
            <a:avLst/>
          </a:prstGeom>
          <a:solidFill>
            <a:srgbClr val="0D284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249765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Chief Editor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965960" y="2249765"/>
            <a:ext cx="1645920" cy="658368"/>
          </a:xfrm>
          <a:prstGeom prst="rect">
            <a:avLst/>
          </a:prstGeom>
          <a:solidFill>
            <a:srgbClr val="0D284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65960" y="2249765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GPT-4o-mini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(OpenAI)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11880" y="2249765"/>
            <a:ext cx="1645920" cy="658368"/>
          </a:xfrm>
          <a:prstGeom prst="rect">
            <a:avLst/>
          </a:prstGeom>
          <a:solidFill>
            <a:srgbClr val="0D284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11880" y="2249765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GPT-4-turbo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(OpenRouter)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257800" y="2249765"/>
            <a:ext cx="1645920" cy="658368"/>
          </a:xfrm>
          <a:prstGeom prst="rect">
            <a:avLst/>
          </a:prstGeom>
          <a:solidFill>
            <a:srgbClr val="0D284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57800" y="2249765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Yes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903720" y="2249765"/>
            <a:ext cx="1645920" cy="658368"/>
          </a:xfrm>
          <a:prstGeom prst="rect">
            <a:avLst/>
          </a:prstGeom>
          <a:solidFill>
            <a:srgbClr val="0D284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2249765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Newsletter writer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2908133"/>
            <a:ext cx="1645920" cy="658368"/>
          </a:xfrm>
          <a:prstGeom prst="rect">
            <a:avLst/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2908133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Backup Editor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965960" y="2908133"/>
            <a:ext cx="1645920" cy="658368"/>
          </a:xfrm>
          <a:prstGeom prst="rect">
            <a:avLst/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65960" y="2908133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GPT-4-turbo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(OpenRouter)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11880" y="2908133"/>
            <a:ext cx="1645920" cy="658368"/>
          </a:xfrm>
          <a:prstGeom prst="rect">
            <a:avLst/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11880" y="2908133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—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257800" y="2908133"/>
            <a:ext cx="1645920" cy="658368"/>
          </a:xfrm>
          <a:prstGeom prst="rect">
            <a:avLst/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57800" y="2908133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Yes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903720" y="2908133"/>
            <a:ext cx="1645920" cy="658368"/>
          </a:xfrm>
          <a:prstGeom prst="rect">
            <a:avLst/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03720" y="2908133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Emergency fallback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67261" y="363521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C46A"/>
                </a:solidFill>
              </a:rPr>
              <a:t>Output Constraints Enforced on Chief Editor: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0040" y="4005072"/>
            <a:ext cx="2011680" cy="960120"/>
          </a:xfrm>
          <a:prstGeom prst="rect">
            <a:avLst/>
          </a:prstGeom>
          <a:solidFill>
            <a:srgbClr val="0A2540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041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173"/>
                </a:solidFill>
              </a:rPr>
              <a:t>📏 Under 200 Words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11480" y="432511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B0C8"/>
                </a:solidFill>
              </a:rPr>
              <a:t>Hard limit in prompt rules — word_count field captured in JSON output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450592" y="4005072"/>
            <a:ext cx="2011680" cy="960120"/>
          </a:xfrm>
          <a:prstGeom prst="rect">
            <a:avLst/>
          </a:prstGeom>
          <a:solidFill>
            <a:srgbClr val="0A2540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42032" y="4041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173"/>
                </a:solidFill>
              </a:rPr>
              <a:t>🗣️ Kenyan Slang ×3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542032" y="432511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B0C8"/>
                </a:solidFill>
              </a:rPr>
              <a:t>Minimum 3 slang terms: Bazeng, Manze, Hii ni kubwa, Wueh!, Msee, Poa sana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581144" y="4005072"/>
            <a:ext cx="2011680" cy="960120"/>
          </a:xfrm>
          <a:prstGeom prst="rect">
            <a:avLst/>
          </a:prstGeom>
          <a:solidFill>
            <a:srgbClr val="0A2540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72584" y="4041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173"/>
                </a:solidFill>
              </a:rPr>
              <a:t>📋 Markdown Format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672584" y="432511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B0C8"/>
                </a:solidFill>
              </a:rPr>
              <a:t>newsletter_body field enforces Markdown structure via output parser schema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711696" y="4005072"/>
            <a:ext cx="2011680" cy="960120"/>
          </a:xfrm>
          <a:prstGeom prst="rect">
            <a:avLst/>
          </a:prstGeom>
          <a:solidFill>
            <a:srgbClr val="0A2540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03136" y="4041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173"/>
                </a:solidFill>
              </a:rPr>
              <a:t>✅ Success Sources Only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803136" y="432511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B0C8"/>
                </a:solidFill>
              </a:rPr>
              <a:t>Chief filters status === 'success' — offline sources silently excluded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UPGRADE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6480" y="544683"/>
            <a:ext cx="8229600" cy="435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Logging &amp; Governance Signals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65321" y="980963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F7173"/>
                </a:solidFill>
              </a:rPr>
              <a:t>If someone asks “What happened last Friday?” — the system can answer.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54842" y="1289303"/>
            <a:ext cx="4966693" cy="343964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7077" y="1308232"/>
            <a:ext cx="47548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1347264"/>
            <a:ext cx="4754880" cy="192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 NewsletterManager → Drafts Tab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746871"/>
            <a:ext cx="1115568" cy="292608"/>
          </a:xfrm>
          <a:prstGeom prst="rect">
            <a:avLst/>
          </a:prstGeom>
          <a:solidFill>
            <a:srgbClr val="EEF2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46871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Date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48640" y="2154436"/>
            <a:ext cx="1115568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83130"/>
            <a:ext cx="1115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$now.setZone('Africa/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Nairobi')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722348" y="1731312"/>
            <a:ext cx="1115568" cy="292608"/>
          </a:xfrm>
          <a:prstGeom prst="rect">
            <a:avLst/>
          </a:prstGeom>
          <a:solidFill>
            <a:srgbClr val="EEF2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05356" y="1739501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Successful Sources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705356" y="2151863"/>
            <a:ext cx="1115568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19072" y="2181765"/>
            <a:ext cx="1115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$json.output.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sources_used.join(',')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848629" y="1746871"/>
            <a:ext cx="1115568" cy="292608"/>
          </a:xfrm>
          <a:prstGeom prst="rect">
            <a:avLst/>
          </a:prstGeom>
          <a:solidFill>
            <a:srgbClr val="EEF2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15056" y="1746871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Draft Body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862072" y="2148409"/>
            <a:ext cx="1115568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84795" y="2194560"/>
            <a:ext cx="1115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$json.output.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newsletter_body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032504" y="1746871"/>
            <a:ext cx="1115568" cy="292608"/>
          </a:xfrm>
          <a:prstGeom prst="rect">
            <a:avLst/>
          </a:prstGeom>
          <a:solidFill>
            <a:srgbClr val="EEF2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2337" y="1746871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Model Used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022337" y="2154436"/>
            <a:ext cx="1115568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32504" y="2181766"/>
            <a:ext cx="1115568" cy="743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/ Fallback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name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458694" y="1719072"/>
            <a:ext cx="3228105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394960" y="1719072"/>
            <a:ext cx="3291840" cy="38404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94960" y="17190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Governance Signals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32120" y="22128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🕐  Execution timestamp (Nairobi TZ)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532120" y="26243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✅  Sources succeeded (e.g. 1/5)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532120" y="30358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📝  Full newsletter body stored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532120" y="34472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🤖  Which model generated output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532120" y="38587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📌  Status: primary or fallback path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54842" y="47137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The workflow is fully auditable after every execution. Leadership can see exactly what ran, what succeeded, and what model wrote the newsletter.</a:t>
            </a:r>
            <a:endParaRPr lang="en-US" sz="95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723D6D6-BCD2-4577-847D-C97B8E9D6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21" y="2935079"/>
            <a:ext cx="4838199" cy="17253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LIVE OUTPUT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Editor — Live Output Sample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500651" cy="3429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51206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173"/>
                </a:solidFill>
              </a:rPr>
              <a:t>Structured JSON Output (Chief Editor):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"newsletter_title":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"Nairobi Nexus — Fibre Turf: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Safaricom's $6 Play",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"newsletter_body":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"Quick hits from the streets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of Nairobi.\n\nSafaricom just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rolled out a KES 800 Fibre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Lite + Wi-Fi Bamba pilot...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Manze, this is Bazeng —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undercutting estate ISPs!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Poa sana for households,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Wueh! for competition.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Unaona?",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"sources_used": ["TechCabal"],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"word_count": 111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095011" y="1371600"/>
            <a:ext cx="4591789" cy="3429000"/>
          </a:xfrm>
          <a:prstGeom prst="rect">
            <a:avLst/>
          </a:prstGeom>
          <a:solidFill>
            <a:srgbClr val="0A1628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60720" y="1371600"/>
            <a:ext cx="292608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9C46A"/>
                </a:solidFill>
              </a:rPr>
              <a:t>📧  Gmail Delivery Preview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4919472"/>
            <a:ext cx="8229600" cy="201168"/>
          </a:xfrm>
          <a:prstGeom prst="rect">
            <a:avLst/>
          </a:prstGeom>
          <a:solidFill>
            <a:srgbClr val="0A2540"/>
          </a:solidFill>
          <a:ln w="6350">
            <a:solidFill>
              <a:srgbClr val="0F71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919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Sheets row logged:  2026-06-06 14:00  |  TechCabal (1/5)  |  [newsletter body]  |  gpt-4o-mini</a:t>
            </a:r>
            <a:endParaRPr lang="en-US" sz="8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D92B464-93ED-4451-B3DE-21F2213AA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9391" y="1664209"/>
            <a:ext cx="4449170" cy="3038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6657"/>
            <a:ext cx="1463040" cy="2560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665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COMPARISON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617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vs Production — What Changed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7532"/>
            <a:ext cx="1828800" cy="365760"/>
          </a:xfrm>
          <a:prstGeom prst="rect">
            <a:avLst/>
          </a:prstGeom>
          <a:solidFill>
            <a:srgbClr val="0D1B2A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827532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Dimension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0" y="827532"/>
            <a:ext cx="3017520" cy="365760"/>
          </a:xfrm>
          <a:prstGeom prst="rect">
            <a:avLst/>
          </a:prstGeom>
          <a:solidFill>
            <a:srgbClr val="0D1B2A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59152" y="827532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Week 8 Prototype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394960" y="827532"/>
            <a:ext cx="3017520" cy="365760"/>
          </a:xfrm>
          <a:prstGeom prst="rect">
            <a:avLst/>
          </a:prstGeom>
          <a:solidFill>
            <a:srgbClr val="0D1B2A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68112" y="827532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Week 10 Production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193292"/>
            <a:ext cx="1828800" cy="640080"/>
          </a:xfrm>
          <a:prstGeom prst="rect">
            <a:avLst/>
          </a:prstGeom>
          <a:solidFill>
            <a:srgbClr val="F0F4F8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193292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AI Output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0" y="1193292"/>
            <a:ext cx="3017520" cy="640080"/>
          </a:xfrm>
          <a:prstGeom prst="rect">
            <a:avLst/>
          </a:prstGeom>
          <a:solidFill>
            <a:srgbClr val="F0F4F8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59152" y="1193292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Free-form Markdown text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394960" y="1193292"/>
            <a:ext cx="3017520" cy="640080"/>
          </a:xfrm>
          <a:prstGeom prst="rect">
            <a:avLst/>
          </a:prstGeom>
          <a:solidFill>
            <a:srgbClr val="E8F7F0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68112" y="1193292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6B3C"/>
                </a:solidFill>
              </a:rPr>
              <a:t>Strict JSON via Structured Output Parser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1833372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1833372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Chief Parser Schema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0" y="1833372"/>
            <a:ext cx="3017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59152" y="1833372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Wrong schema (article fields)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on newsletter output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394960" y="1833372"/>
            <a:ext cx="3017520" cy="640080"/>
          </a:xfrm>
          <a:prstGeom prst="rect">
            <a:avLst/>
          </a:prstGeom>
          <a:solidFill>
            <a:srgbClr val="E8F7F0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68112" y="1833372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6B3C"/>
                </a:solidFill>
              </a:rPr>
              <a:t>Correct schema: newsletter_title,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6B3C"/>
                </a:solidFill>
              </a:rPr>
              <a:t>newsletter_body, sources_used, word_count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2473452"/>
            <a:ext cx="1828800" cy="640080"/>
          </a:xfrm>
          <a:prstGeom prst="rect">
            <a:avLst/>
          </a:prstGeom>
          <a:solidFill>
            <a:srgbClr val="F0F4F8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2473452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Downstream Safety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0" y="2473452"/>
            <a:ext cx="3017520" cy="640080"/>
          </a:xfrm>
          <a:prstGeom prst="rect">
            <a:avLst/>
          </a:prstGeom>
          <a:solidFill>
            <a:srgbClr val="F0F4F8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59152" y="2473452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Sheets mapping guessed field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names — returned 'undefined'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394960" y="2473452"/>
            <a:ext cx="3017520" cy="640080"/>
          </a:xfrm>
          <a:prstGeom prst="rect">
            <a:avLst/>
          </a:prstGeom>
          <a:solidFill>
            <a:srgbClr val="E8F7F0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68112" y="2473452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6B3C"/>
                </a:solidFill>
              </a:rPr>
              <a:t>Reliable $json.output.newsletter_body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6B3C"/>
                </a:solidFill>
              </a:rPr>
              <a:t>reference — always resolves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3113532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3113532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Model Fallback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0" y="3113532"/>
            <a:ext cx="3017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59152" y="3113532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Chief Editor only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394960" y="3113532"/>
            <a:ext cx="3017520" cy="640080"/>
          </a:xfrm>
          <a:prstGeom prst="rect">
            <a:avLst/>
          </a:prstGeom>
          <a:solidFill>
            <a:srgbClr val="E8F7F0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68112" y="3113532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6B3C"/>
                </a:solidFill>
              </a:rPr>
              <a:t>All 5 Field Reporters + Chief Editor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6B3C"/>
                </a:solidFill>
              </a:rPr>
              <a:t>have independent fallback models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" y="3753612"/>
            <a:ext cx="1828800" cy="640080"/>
          </a:xfrm>
          <a:prstGeom prst="rect">
            <a:avLst/>
          </a:prstGeom>
          <a:solidFill>
            <a:srgbClr val="F0F4F8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3753612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Logging Depth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0" y="3753612"/>
            <a:ext cx="3017520" cy="640080"/>
          </a:xfrm>
          <a:prstGeom prst="rect">
            <a:avLst/>
          </a:prstGeom>
          <a:solidFill>
            <a:srgbClr val="F0F4F8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59152" y="3753612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Date + draft body only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394960" y="3753612"/>
            <a:ext cx="3017520" cy="640080"/>
          </a:xfrm>
          <a:prstGeom prst="rect">
            <a:avLst/>
          </a:prstGeom>
          <a:solidFill>
            <a:srgbClr val="E8F7F0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68112" y="3753612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6B3C"/>
                </a:solidFill>
              </a:rPr>
              <a:t>Date, sources count, newsletter title,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6B3C"/>
                </a:solidFill>
              </a:rPr>
              <a:t>body, model used — fully auditable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65760" y="4393692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" y="4393692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Rate Limiting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286000" y="4393692"/>
            <a:ext cx="3017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59152" y="4393692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5 agents firing simultaneously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caused API throttling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394960" y="4393692"/>
            <a:ext cx="3017520" cy="640080"/>
          </a:xfrm>
          <a:prstGeom prst="rect">
            <a:avLst/>
          </a:prstGeom>
          <a:solidFill>
            <a:srgbClr val="E8F7F0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68112" y="4393692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6B3C"/>
                </a:solidFill>
              </a:rPr>
              <a:t>executeOnce + proper branch isolation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6B3C"/>
                </a:solidFill>
              </a:rPr>
              <a:t>reduces concurrent calls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ROBUSTNESS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System Is More Robust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4023360" cy="1417320"/>
          </a:xfrm>
          <a:prstGeom prst="rect">
            <a:avLst/>
          </a:prstGeom>
          <a:solidFill>
            <a:srgbClr val="0A1E35"/>
          </a:solidFill>
          <a:ln w="12700">
            <a:solidFill>
              <a:srgbClr val="0F7173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5270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173"/>
                </a:solidFill>
              </a:rPr>
              <a:t>Predictable AI Outputs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8424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B0C8"/>
                </a:solidFill>
              </a:rPr>
              <a:t>JSON schema enforcement means any malformed response is caught at the parser — never silently passed downstream to break Gmail or Sheets.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4023360" cy="1417320"/>
          </a:xfrm>
          <a:prstGeom prst="rect">
            <a:avLst/>
          </a:prstGeom>
          <a:solidFill>
            <a:srgbClr val="0A1E35"/>
          </a:solidFill>
          <a:ln w="12700">
            <a:solidFill>
              <a:srgbClr val="E9C46A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49240" y="15270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</a:rPr>
              <a:t>Multi-Layer Fault Tolerance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98424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B0C8"/>
                </a:solidFill>
              </a:rPr>
              <a:t>HTTP safety + per-branch model fallbacks + Chief Editor fallback = 3 independent protection layers. A single failure cannot stop the workflow.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3017520"/>
            <a:ext cx="4023360" cy="1417320"/>
          </a:xfrm>
          <a:prstGeom prst="rect">
            <a:avLst/>
          </a:prstGeom>
          <a:solidFill>
            <a:srgbClr val="0A1E35"/>
          </a:solidFill>
          <a:ln w="12700">
            <a:solidFill>
              <a:srgbClr val="0F7173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05840" y="31272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173"/>
                </a:solidFill>
              </a:rPr>
              <a:t>Deliberate Model Strategy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58444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B0C8"/>
                </a:solidFill>
              </a:rPr>
              <a:t>Primary models chosen for quality (GPT-4o-mini). Fallbacks chosen for reliability (GPT-4-turbo via OpenRouter). The system decides — it doesn't hope.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4023360" cy="1417320"/>
          </a:xfrm>
          <a:prstGeom prst="rect">
            <a:avLst/>
          </a:prstGeom>
          <a:solidFill>
            <a:srgbClr val="0A1E35"/>
          </a:solidFill>
          <a:ln w="12700">
            <a:solidFill>
              <a:srgbClr val="E9C46A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49240" y="31272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</a:rPr>
              <a:t>Full Operational Visibility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358444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B0C8"/>
                </a:solidFill>
              </a:rPr>
              <a:t>Every run logs source count, model used, newsletter title, body and timestamp. Leadership can audit any Friday's run in under 30 seconds.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ASSESSMENT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Alignment — Week 10 (40 Points)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690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406908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Structured AI Output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&amp; JSON Reliability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11880" y="1371600"/>
            <a:ext cx="822960" cy="457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371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 pts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90195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Field Reporters: Structured Output Parser (source, headline, status schema)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Editor: Structured Output Parser (newsletter_title, newsletter_body, sources_used, word_count)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responses caught at parser — downstream nodes never receive bad data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81728" y="1371600"/>
            <a:ext cx="40690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1371600"/>
            <a:ext cx="406908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Fault Tolerance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&amp; Resilient Design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927848" y="1371600"/>
            <a:ext cx="822960" cy="457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27848" y="1371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 pts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91456" y="190195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continueRegularOutput on all 5 HTTP nodes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Editor onError: continueErrorOutput → Backup Editor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Per-branch OpenRouter fallback models on all Field Reporters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executeOnce: true on Chief + Backup prevents duplicate newsletters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3090672"/>
            <a:ext cx="40690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090672"/>
            <a:ext cx="406908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090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Model Selection,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Constraints &amp; Fallbacks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11880" y="3090672"/>
            <a:ext cx="822960" cy="457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309067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 pts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" y="3621024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GPT-4o-mini (quality), Fallback: GPT-4-turbo (reliability)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constraints: under 200 words, ≥3 Kenyan slang terms, Markdown format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Editor filters status==='success' — offline sources excluded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Error-triggered routing is deliberate and tested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81728" y="3090672"/>
            <a:ext cx="40690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81728" y="3090672"/>
            <a:ext cx="406908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3090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Operational Logging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&amp; Governance Signals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927848" y="3090672"/>
            <a:ext cx="822960" cy="457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27848" y="309067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 pts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91456" y="3621024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Drafts tab: Date, Successful Sources, Draft Body, Model Used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sources_used array from structured output mapped to Sheets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timestamp in Africa/Nairobi timezone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fully auditable after each Friday run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TEAM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Roles &amp; Contributions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393192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Anthony Waliaula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13716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173"/>
                </a:solidFill>
              </a:rPr>
              <a:t>⚙️ Workflow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3803" y="2011680"/>
            <a:ext cx="3248167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workflow configuration &amp; architecture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HTTP + AI Agent branch setup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Parser schema design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fallback routing (OpenAI + OpenRouter)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Editor prompt engineering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&amp; Gmail node configuration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JSON export &amp; testing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371600"/>
            <a:ext cx="3931920" cy="54864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371600"/>
            <a:ext cx="2743200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Anne Nyambura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98080" y="13716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📝 Docs &amp; Slides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15552" y="2018504"/>
            <a:ext cx="3579808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 &amp; README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submission document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slide deck (this deck)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README and repo structure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narrative and write-ups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architecture diagrams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review &amp; submission coordination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Submission deadline: Sunday 7th June 2026  •  Week 10 Final Capstone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🗞️ NAIROBI NEXUS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automate a happy path.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1488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was designed for failure, uncertainty, and scale.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971800"/>
            <a:ext cx="2743200" cy="274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10896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Waliaula  •  Anne Nyambura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Final Capstone  •  n8n AI Workflow Engineering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Q&amp;A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7173"/>
                </a:solidFill>
              </a:rPr>
              <a:t>39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47365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Nodes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148840" y="4297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7173"/>
                </a:solidFill>
              </a:rPr>
              <a:t>5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148840" y="47365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Sources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40480" y="4297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7173"/>
                </a:solidFill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840480" y="47365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Fault Layers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32120" y="4297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7173"/>
                </a:solidFill>
              </a:rPr>
              <a:t>100%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532120" y="47365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Structured Output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223760" y="4297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7173"/>
                </a:solidFill>
              </a:rPr>
              <a:t>2×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223760" y="47365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Model Fallbacks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1955</Words>
  <Application>Microsoft Office PowerPoint</Application>
  <PresentationFormat>On-screen Show (16:9)</PresentationFormat>
  <Paragraphs>394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Nairobi Nexus – Production-Grade AI Newsletter System</dc:title>
  <dc:subject>PptxGenJS Presentation</dc:subject>
  <dc:creator>PptxGenJS</dc:creator>
  <cp:lastModifiedBy>qin alexander</cp:lastModifiedBy>
  <cp:revision>4</cp:revision>
  <dcterms:created xsi:type="dcterms:W3CDTF">2026-06-05T11:38:16Z</dcterms:created>
  <dcterms:modified xsi:type="dcterms:W3CDTF">2026-06-05T12:06:58Z</dcterms:modified>
</cp:coreProperties>
</file>