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863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4572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🗞️ NAIROBI NEXUS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10515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AI Newsletter System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320040" y="21031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Final Capstone Project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2651760"/>
            <a:ext cx="3200400" cy="274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283464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 Waliaula-Lead </a:t>
            </a: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Engineer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 Nyambura -Documentation &amp; Slides</a:t>
            </a:r>
            <a:endParaRPr lang="en-US" sz="1300" dirty="0"/>
          </a:p>
          <a:p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Automation  •  AI Workflow Engineering  •  June 2026</a:t>
            </a:r>
            <a:b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https://github.com/awaliaula/moringan8nweek10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66560" y="548640"/>
            <a:ext cx="1371600" cy="100584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766560" y="658368"/>
            <a:ext cx="13716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39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766560" y="1172261"/>
            <a:ext cx="1371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Workflow Nodes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766560" y="1691640"/>
            <a:ext cx="1371600" cy="1005840"/>
          </a:xfrm>
          <a:prstGeom prst="rect">
            <a:avLst/>
          </a:prstGeom>
          <a:solidFill>
            <a:srgbClr val="18284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766560" y="1801368"/>
            <a:ext cx="13716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5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766560" y="2315261"/>
            <a:ext cx="1371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News Sources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766560" y="2834640"/>
            <a:ext cx="1371600" cy="100584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66560" y="2944368"/>
            <a:ext cx="13716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2×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766560" y="3458261"/>
            <a:ext cx="13716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Fault Layers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66560" y="3931920"/>
            <a:ext cx="1371600" cy="960120"/>
          </a:xfrm>
          <a:prstGeom prst="rect">
            <a:avLst/>
          </a:prstGeom>
          <a:solidFill>
            <a:srgbClr val="182840"/>
          </a:solidFill>
          <a:ln w="12700">
            <a:solidFill>
              <a:srgbClr val="18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766560" y="4041648"/>
            <a:ext cx="1371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</a:rPr>
              <a:t>40pts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766560" y="4527194"/>
            <a:ext cx="1371600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Final Capstone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2920" cy="73152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14721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Original Week 8 Design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1560" y="17647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Architecture, assumptions &amp; what it built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931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502920" cy="7315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28600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34086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Identified Weaknesses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6334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Where the prototype could fail or mislead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3931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502920" cy="73152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15468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32095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Structured AI Output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35021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JSON enforcement across all agents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4023360"/>
            <a:ext cx="3931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4023360"/>
            <a:ext cx="502920" cy="7315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402336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1560" y="40782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Fault Tolerance Upgrades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" y="43708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Graceful degradation at every layer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46320" y="1417320"/>
            <a:ext cx="3931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46320" y="1417320"/>
            <a:ext cx="502920" cy="73152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46320" y="14173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440680" y="14721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Model Selection &amp; Fallbacks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40680" y="17647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Primary vs fallback strategy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46320" y="2286000"/>
            <a:ext cx="3931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46320" y="2286000"/>
            <a:ext cx="502920" cy="7315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46320" y="228600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440680" y="234086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Operational Logging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40680" y="26334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Governance, auditability &amp; Google Sheets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46320" y="3154680"/>
            <a:ext cx="3931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846320" y="3154680"/>
            <a:ext cx="502920" cy="73152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846320" y="315468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440680" y="32095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</a:rPr>
              <a:t>Why It's More Robust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40680" y="35021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Production-grade vs prototype comparison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WEEK 8 FOUNDATION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Design — The Functional Prototype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What we built in Week 8: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265176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4008" cy="1298448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21792" y="1856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0000"/>
                </a:solidFill>
              </a:rPr>
              <a:t>⏰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21792" y="22219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Trigger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" y="254203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every Friday 2:00 PM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Africa/Nairobi timezone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10128" y="1783080"/>
            <a:ext cx="265176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10128" y="1783080"/>
            <a:ext cx="64008" cy="1298448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74720" y="1856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0000"/>
                </a:solidFill>
              </a:rPr>
              <a:t>📡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74720" y="22219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Parallel HTTP Branches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254203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TechCabal, Business Daily, The Star,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Media, Kenyan Wall Street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783080"/>
            <a:ext cx="265176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63056" y="1783080"/>
            <a:ext cx="64008" cy="1298448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27648" y="1856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27648" y="22219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Reporter Agents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27648" y="254203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branch: own AI agent → extracts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headline as structured JSON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246120"/>
            <a:ext cx="265176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57200" y="3246120"/>
            <a:ext cx="64008" cy="1298448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1792" y="33192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0000"/>
                </a:solidFill>
              </a:rPr>
              <a:t>🔀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21792" y="36850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Merging Intelligence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1792" y="400507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mode merge of all 5 branch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into one combined list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10128" y="3246120"/>
            <a:ext cx="265176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310128" y="3246120"/>
            <a:ext cx="64008" cy="1298448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74720" y="33192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0000"/>
                </a:solidFill>
              </a:rPr>
              <a:t>✍️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74720" y="36850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Editor — Kamau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74720" y="400507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synthesises witty newsletter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Kenyan slang under 200 words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63056" y="3246120"/>
            <a:ext cx="265176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163056" y="3246120"/>
            <a:ext cx="64008" cy="1298448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327648" y="33192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27648" y="36850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&amp; Deliver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27648" y="400507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 logging + styled Gmail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marketing team for approval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F7173"/>
                </a:solidFill>
              </a:rPr>
              <a:t>✅  True distributed parallel architecture  •  Each HTTP paired with its own AI agent  •  Fault tolerant HTTP nodes  •  Fallback editor model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53564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Architecture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840480" y="1047340"/>
            <a:ext cx="1645920" cy="502920"/>
          </a:xfrm>
          <a:prstGeom prst="rect">
            <a:avLst/>
          </a:prstGeom>
          <a:solidFill>
            <a:srgbClr val="0F7173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840480" y="10473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⏰  Schedule Trigger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63440" y="1550260"/>
            <a:ext cx="0" cy="182880"/>
          </a:xfrm>
          <a:prstGeom prst="line">
            <a:avLst/>
          </a:prstGeom>
          <a:noFill/>
          <a:ln w="254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870300"/>
            <a:ext cx="1417320" cy="438912"/>
          </a:xfrm>
          <a:prstGeom prst="rect">
            <a:avLst/>
          </a:prstGeom>
          <a:solidFill>
            <a:srgbClr val="182840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8703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📡 HTTP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TechCabal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20140" y="2309212"/>
            <a:ext cx="0" cy="164592"/>
          </a:xfrm>
          <a:prstGeom prst="line">
            <a:avLst/>
          </a:prstGeom>
          <a:noFill/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11480" y="2473804"/>
            <a:ext cx="1417320" cy="457200"/>
          </a:xfrm>
          <a:prstGeom prst="rect">
            <a:avLst/>
          </a:prstGeom>
          <a:solidFill>
            <a:srgbClr val="0F7173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247380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🤖 AI Agent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TechCabal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65960" y="1870300"/>
            <a:ext cx="1417320" cy="438912"/>
          </a:xfrm>
          <a:prstGeom prst="rect">
            <a:avLst/>
          </a:prstGeom>
          <a:solidFill>
            <a:srgbClr val="182840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965960" y="18703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📡 HTTP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Business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Daily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674620" y="2309212"/>
            <a:ext cx="0" cy="164592"/>
          </a:xfrm>
          <a:prstGeom prst="line">
            <a:avLst/>
          </a:prstGeom>
          <a:noFill/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965960" y="2473804"/>
            <a:ext cx="1417320" cy="457200"/>
          </a:xfrm>
          <a:prstGeom prst="rect">
            <a:avLst/>
          </a:prstGeom>
          <a:solidFill>
            <a:srgbClr val="0F7173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965960" y="247380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🤖 AI Agent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Business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Daily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520440" y="1870300"/>
            <a:ext cx="1417320" cy="438912"/>
          </a:xfrm>
          <a:prstGeom prst="rect">
            <a:avLst/>
          </a:prstGeom>
          <a:solidFill>
            <a:srgbClr val="182840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520440" y="18703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📡 HTTP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The Star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229100" y="2309212"/>
            <a:ext cx="0" cy="164592"/>
          </a:xfrm>
          <a:prstGeom prst="line">
            <a:avLst/>
          </a:prstGeom>
          <a:noFill/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520440" y="2473804"/>
            <a:ext cx="1417320" cy="457200"/>
          </a:xfrm>
          <a:prstGeom prst="rect">
            <a:avLst/>
          </a:prstGeom>
          <a:solidFill>
            <a:srgbClr val="0F7173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520440" y="247380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🤖 AI Agent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The Star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074920" y="1870300"/>
            <a:ext cx="1417320" cy="438912"/>
          </a:xfrm>
          <a:prstGeom prst="rect">
            <a:avLst/>
          </a:prstGeom>
          <a:solidFill>
            <a:srgbClr val="182840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74920" y="18703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📡 HTTP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Standard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Media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783580" y="2309212"/>
            <a:ext cx="0" cy="164592"/>
          </a:xfrm>
          <a:prstGeom prst="line">
            <a:avLst/>
          </a:prstGeom>
          <a:noFill/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074920" y="2473804"/>
            <a:ext cx="1417320" cy="457200"/>
          </a:xfrm>
          <a:prstGeom prst="rect">
            <a:avLst/>
          </a:prstGeom>
          <a:solidFill>
            <a:srgbClr val="0F7173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74920" y="247380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🤖 AI Agent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Standard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Media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629400" y="1870300"/>
            <a:ext cx="1417320" cy="438912"/>
          </a:xfrm>
          <a:prstGeom prst="rect">
            <a:avLst/>
          </a:prstGeom>
          <a:solidFill>
            <a:srgbClr val="182840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629400" y="18703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📡 HTTP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Kenyan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Wall St.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338060" y="2309212"/>
            <a:ext cx="0" cy="164592"/>
          </a:xfrm>
          <a:prstGeom prst="line">
            <a:avLst/>
          </a:prstGeom>
          <a:noFill/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629400" y="2473804"/>
            <a:ext cx="1417320" cy="457200"/>
          </a:xfrm>
          <a:prstGeom prst="rect">
            <a:avLst/>
          </a:prstGeom>
          <a:solidFill>
            <a:srgbClr val="0F7173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629400" y="247380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🤖 AI Agent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Kenyan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FFFFFF"/>
                </a:solidFill>
              </a:rPr>
              <a:t>Wall St.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1120140" y="2931004"/>
            <a:ext cx="0" cy="228600"/>
          </a:xfrm>
          <a:prstGeom prst="line">
            <a:avLst/>
          </a:prstGeom>
          <a:noFill/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674620" y="2931004"/>
            <a:ext cx="0" cy="228600"/>
          </a:xfrm>
          <a:prstGeom prst="line">
            <a:avLst/>
          </a:prstGeom>
          <a:noFill/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229100" y="2931004"/>
            <a:ext cx="0" cy="228600"/>
          </a:xfrm>
          <a:prstGeom prst="line">
            <a:avLst/>
          </a:prstGeom>
          <a:noFill/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783580" y="2931004"/>
            <a:ext cx="0" cy="228600"/>
          </a:xfrm>
          <a:prstGeom prst="line">
            <a:avLst/>
          </a:prstGeom>
          <a:noFill/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338060" y="2931004"/>
            <a:ext cx="0" cy="228600"/>
          </a:xfrm>
          <a:prstGeom prst="line">
            <a:avLst/>
          </a:prstGeom>
          <a:noFill/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017520" y="3159604"/>
            <a:ext cx="3291840" cy="457200"/>
          </a:xfrm>
          <a:prstGeom prst="rect">
            <a:avLst/>
          </a:prstGeom>
          <a:solidFill>
            <a:srgbClr val="0F4C75"/>
          </a:solidFill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017520" y="315960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9C46A"/>
                </a:solidFill>
              </a:rPr>
              <a:t>🔀  Merging Intelligence  (Append Mode)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3616804"/>
            <a:ext cx="0" cy="201168"/>
          </a:xfrm>
          <a:prstGeom prst="line">
            <a:avLst/>
          </a:prstGeom>
          <a:noFill/>
          <a:ln w="254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383280" y="3817972"/>
            <a:ext cx="2560320" cy="502920"/>
          </a:xfrm>
          <a:prstGeom prst="rect">
            <a:avLst/>
          </a:prstGeom>
          <a:solidFill>
            <a:srgbClr val="0F717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383280" y="381797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✍️  Chief Editor — Kamau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(GPT-4o-mini  +  Structured Output)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886200" y="4320892"/>
            <a:ext cx="0" cy="182880"/>
          </a:xfrm>
          <a:prstGeom prst="line">
            <a:avLst/>
          </a:prstGeom>
          <a:noFill/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4572000" y="4705642"/>
            <a:ext cx="274320" cy="0"/>
          </a:xfrm>
          <a:prstGeom prst="line">
            <a:avLst/>
          </a:prstGeom>
          <a:noFill/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926080" y="4503772"/>
            <a:ext cx="1645920" cy="411480"/>
          </a:xfrm>
          <a:prstGeom prst="rect">
            <a:avLst/>
          </a:prstGeom>
          <a:solidFill>
            <a:srgbClr val="182840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926080" y="450377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📊 Google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Sheets Log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853354" y="4485484"/>
            <a:ext cx="1645920" cy="411480"/>
          </a:xfrm>
          <a:prstGeom prst="rect">
            <a:avLst/>
          </a:prstGeom>
          <a:solidFill>
            <a:srgbClr val="182840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754880" y="450377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📧 Gmail →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Marketing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74320" y="48920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4748B"/>
                </a:solidFill>
              </a:rPr>
              <a:t>[ Add screenshot: n8n canvas showing full parallel workflow ]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PROBLEM STATEMENT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 — And Where It Could Break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319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931920" cy="384048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✅  WHAT WORKED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8745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distributed parallel architecture (5 branches)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HTTP paired with its own AI Field Reporter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continueRegularOutput on all HTTP nodes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Editor error branch → Backup Agent fallback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+ Google Sheets delivery pipeline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Witty Kenyan slang newsletter output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9319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371600"/>
            <a:ext cx="3931920" cy="38404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54880" y="13716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⚠️  WEAKNESSES IDENTIFIED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18745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Output Parser schema mismatch — article schema on newsletter output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newsletter could break downstream nodes silently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structured validation = AI could output anything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 mapping used wrong field key ($json.output.newsletter)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caused simultaneous agent calls to fail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governance: couldn't audit which model ran or how many sources succeeded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UPGRADE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AI Output &amp; JSON Reliability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121163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9C46A"/>
                </a:solidFill>
              </a:rPr>
              <a:t>Every agent now outputs strict, validated JSON — the system never guesses what the AI meant.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578363"/>
            <a:ext cx="4114800" cy="3017520"/>
          </a:xfrm>
          <a:prstGeom prst="rect">
            <a:avLst/>
          </a:prstGeom>
          <a:solidFill>
            <a:srgbClr val="0A2540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578363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7173"/>
                </a:solidFill>
              </a:rPr>
              <a:t>FIELD REPORTER SCHEMA  (×5 Agents)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2008131"/>
            <a:ext cx="3840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"object",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"properties":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"source":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"type": "string",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"description": "Publication name"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"headline":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"type": "string",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"description": "Top tech/business headline"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"status":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"type": "string",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"description": "'success' or 'offline'"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"required": ["source","headline","status"]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54880" y="1412850"/>
            <a:ext cx="3931920" cy="3287064"/>
          </a:xfrm>
          <a:prstGeom prst="rect">
            <a:avLst/>
          </a:prstGeom>
          <a:solidFill>
            <a:srgbClr val="0A2540"/>
          </a:solidFill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54880" y="141285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9C46A"/>
                </a:solidFill>
              </a:rPr>
              <a:t>CHIEF EDITOR SCHEMA  (Kamau)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92040" y="1842618"/>
            <a:ext cx="3657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"object",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"properties":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"newsletter_title":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"type": "string"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"newsletter_body":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"type": "string",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"description": "Full Markdown newsletter"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"sources_used":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"type": "array",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"items": { "type": "string" 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"word_count":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"type": "integer"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"required": [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"newsletter_title",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"newsletter_body",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"sources_used"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9D7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7200" y="4782210"/>
            <a:ext cx="8262355" cy="376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Why this matters: Downstream nodes (Google Sheets, Gmail) can reliably reference $json.output.newsletter_body instead of guessing field names. Malformed AI responses are caught at the parser, not silently passed on.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UPGRADE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54167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Tolerance &amp; Resilient Design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29768" y="11292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F7173"/>
                </a:solidFill>
              </a:rPr>
              <a:t>A production system degrades gracefully — it does not collapse.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554480"/>
            <a:ext cx="26974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554480"/>
            <a:ext cx="2697480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55448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🌐  Layer 1 — HTTP Safety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29768" y="21031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onError: continueRegularOutput on ALL 5 HTTP nodes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source → Field Reporter receives fallback text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marks status: 'offline' in JSON output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node collects ALL branches regardless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Editor filters silently by status === 'success'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72968" y="1554480"/>
            <a:ext cx="26974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172968" y="1554480"/>
            <a:ext cx="2697480" cy="475488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64408" y="155448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🔁  Layer 2 — Model Fallback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82696" y="21031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Editor: onError: continueErrorOutput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fails (timeout/quota) → Error Branch fires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Editor AI Agent activates automatically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GPT-4-turbo (OpenRouter) as fallback model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Chief and Backup: executeOnce: true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25896" y="1554480"/>
            <a:ext cx="26974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25896" y="1554480"/>
            <a:ext cx="2697480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17336" y="155448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🛡️  Layer 3 — Field Reporter Fallbacks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35624" y="21031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Field Reporter has its own fallback LLM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Daily, The Star, Standard, KWS all have OpenRouter fallback models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primary OpenAI call fails, OpenRouter takes over per branch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isolated — one reporter failing doesn't cascade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branch is fully independent from trigger to merge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UPGRADE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Selection, Constraints &amp; Fallbacks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1207349"/>
            <a:ext cx="1645920" cy="384048"/>
          </a:xfrm>
          <a:prstGeom prst="rect">
            <a:avLst/>
          </a:prstGeom>
          <a:solidFill>
            <a:srgbClr val="0F7173"/>
          </a:solidFill>
          <a:ln w="63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07349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Agent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965960" y="1207349"/>
            <a:ext cx="1645920" cy="384048"/>
          </a:xfrm>
          <a:prstGeom prst="rect">
            <a:avLst/>
          </a:prstGeom>
          <a:solidFill>
            <a:srgbClr val="0F7173"/>
          </a:solidFill>
          <a:ln w="63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965960" y="1207349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Primary Model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11880" y="1207349"/>
            <a:ext cx="1645920" cy="384048"/>
          </a:xfrm>
          <a:prstGeom prst="rect">
            <a:avLst/>
          </a:prstGeom>
          <a:solidFill>
            <a:srgbClr val="0F7173"/>
          </a:solidFill>
          <a:ln w="63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11880" y="1207349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Fallback Model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257800" y="1207349"/>
            <a:ext cx="1645920" cy="384048"/>
          </a:xfrm>
          <a:prstGeom prst="rect">
            <a:avLst/>
          </a:prstGeom>
          <a:solidFill>
            <a:srgbClr val="0F7173"/>
          </a:solidFill>
          <a:ln w="63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257800" y="1207349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executeOnce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03720" y="1207349"/>
            <a:ext cx="1645920" cy="384048"/>
          </a:xfrm>
          <a:prstGeom prst="rect">
            <a:avLst/>
          </a:prstGeom>
          <a:solidFill>
            <a:srgbClr val="0F7173"/>
          </a:solidFill>
          <a:ln w="63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903720" y="1207349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Role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1591397"/>
            <a:ext cx="1645920" cy="658368"/>
          </a:xfrm>
          <a:prstGeom prst="rect">
            <a:avLst/>
          </a:prstGeom>
          <a:solidFill>
            <a:srgbClr val="0A2540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1591397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Field Reporters (×5)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965960" y="1591397"/>
            <a:ext cx="1645920" cy="658368"/>
          </a:xfrm>
          <a:prstGeom prst="rect">
            <a:avLst/>
          </a:prstGeom>
          <a:solidFill>
            <a:srgbClr val="0A2540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965960" y="1591397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GPT-4o-mini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(OpenAI)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11880" y="1591397"/>
            <a:ext cx="1645920" cy="658368"/>
          </a:xfrm>
          <a:prstGeom prst="rect">
            <a:avLst/>
          </a:prstGeom>
          <a:solidFill>
            <a:srgbClr val="0A2540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11880" y="1591397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OpenRouter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(per branch)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257800" y="1591397"/>
            <a:ext cx="1645920" cy="658368"/>
          </a:xfrm>
          <a:prstGeom prst="rect">
            <a:avLst/>
          </a:prstGeom>
          <a:solidFill>
            <a:srgbClr val="0A2540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257800" y="1591397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No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903720" y="1591397"/>
            <a:ext cx="1645920" cy="658368"/>
          </a:xfrm>
          <a:prstGeom prst="rect">
            <a:avLst/>
          </a:prstGeom>
          <a:solidFill>
            <a:srgbClr val="0A2540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03720" y="1591397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JSON extractor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0040" y="2249765"/>
            <a:ext cx="1645920" cy="658368"/>
          </a:xfrm>
          <a:prstGeom prst="rect">
            <a:avLst/>
          </a:prstGeom>
          <a:solidFill>
            <a:srgbClr val="0D2845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2249765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Chief Editor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965960" y="2249765"/>
            <a:ext cx="1645920" cy="658368"/>
          </a:xfrm>
          <a:prstGeom prst="rect">
            <a:avLst/>
          </a:prstGeom>
          <a:solidFill>
            <a:srgbClr val="0D2845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965960" y="2249765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GPT-4o-mini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(OpenAI)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11880" y="2249765"/>
            <a:ext cx="1645920" cy="658368"/>
          </a:xfrm>
          <a:prstGeom prst="rect">
            <a:avLst/>
          </a:prstGeom>
          <a:solidFill>
            <a:srgbClr val="0D2845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11880" y="2249765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GPT-4-turbo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(OpenRouter)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257800" y="2249765"/>
            <a:ext cx="1645920" cy="658368"/>
          </a:xfrm>
          <a:prstGeom prst="rect">
            <a:avLst/>
          </a:prstGeom>
          <a:solidFill>
            <a:srgbClr val="0D2845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257800" y="2249765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Yes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903720" y="2249765"/>
            <a:ext cx="1645920" cy="658368"/>
          </a:xfrm>
          <a:prstGeom prst="rect">
            <a:avLst/>
          </a:prstGeom>
          <a:solidFill>
            <a:srgbClr val="0D2845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903720" y="2249765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Newsletter writer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20040" y="2908133"/>
            <a:ext cx="1645920" cy="658368"/>
          </a:xfrm>
          <a:prstGeom prst="rect">
            <a:avLst/>
          </a:prstGeom>
          <a:solidFill>
            <a:srgbClr val="0A2540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20040" y="2908133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Backup Editor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965960" y="2908133"/>
            <a:ext cx="1645920" cy="658368"/>
          </a:xfrm>
          <a:prstGeom prst="rect">
            <a:avLst/>
          </a:prstGeom>
          <a:solidFill>
            <a:srgbClr val="0A2540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965960" y="2908133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GPT-4-turbo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(OpenRouter)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11880" y="2908133"/>
            <a:ext cx="1645920" cy="658368"/>
          </a:xfrm>
          <a:prstGeom prst="rect">
            <a:avLst/>
          </a:prstGeom>
          <a:solidFill>
            <a:srgbClr val="0A2540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611880" y="2908133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—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257800" y="2908133"/>
            <a:ext cx="1645920" cy="658368"/>
          </a:xfrm>
          <a:prstGeom prst="rect">
            <a:avLst/>
          </a:prstGeom>
          <a:solidFill>
            <a:srgbClr val="0A2540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257800" y="2908133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Yes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903720" y="2908133"/>
            <a:ext cx="1645920" cy="658368"/>
          </a:xfrm>
          <a:prstGeom prst="rect">
            <a:avLst/>
          </a:prstGeom>
          <a:solidFill>
            <a:srgbClr val="0A2540"/>
          </a:solidFill>
          <a:ln w="635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903720" y="2908133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Emergency fallback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67261" y="363521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9C46A"/>
                </a:solidFill>
              </a:rPr>
              <a:t>Output Constraints Enforced on Chief Editor: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0040" y="4005072"/>
            <a:ext cx="2011680" cy="960120"/>
          </a:xfrm>
          <a:prstGeom prst="rect">
            <a:avLst/>
          </a:prstGeom>
          <a:solidFill>
            <a:srgbClr val="0A2540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11480" y="4041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7173"/>
                </a:solidFill>
              </a:rPr>
              <a:t>📏 Under 200 Words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11480" y="43251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BB0C8"/>
                </a:solidFill>
              </a:rPr>
              <a:t>Hard limit in prompt rules — word_count field captured in JSON output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450592" y="4005072"/>
            <a:ext cx="2011680" cy="960120"/>
          </a:xfrm>
          <a:prstGeom prst="rect">
            <a:avLst/>
          </a:prstGeom>
          <a:solidFill>
            <a:srgbClr val="0A2540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2542032" y="4041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7173"/>
                </a:solidFill>
              </a:rPr>
              <a:t>🗣️ Kenyan Slang ×3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2542032" y="43251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BB0C8"/>
                </a:solidFill>
              </a:rPr>
              <a:t>Minimum 3 slang terms: Bazeng, Manze, Hii ni kubwa, Wueh!, Msee, Poa sana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581144" y="4005072"/>
            <a:ext cx="2011680" cy="960120"/>
          </a:xfrm>
          <a:prstGeom prst="rect">
            <a:avLst/>
          </a:prstGeom>
          <a:solidFill>
            <a:srgbClr val="0A2540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672584" y="4041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7173"/>
                </a:solidFill>
              </a:rPr>
              <a:t>📋 Markdown Format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672584" y="43251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BB0C8"/>
                </a:solidFill>
              </a:rPr>
              <a:t>newsletter_body field enforces Markdown structure via output parser schema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711696" y="4005072"/>
            <a:ext cx="2011680" cy="960120"/>
          </a:xfrm>
          <a:prstGeom prst="rect">
            <a:avLst/>
          </a:prstGeom>
          <a:solidFill>
            <a:srgbClr val="0A2540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803136" y="4041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F7173"/>
                </a:solidFill>
              </a:rPr>
              <a:t>✅ Success Sources Only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803136" y="43251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BB0C8"/>
                </a:solidFill>
              </a:rPr>
              <a:t>Chief filters status === 'success' — offline sources silently excluded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UPGRADE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6480" y="544683"/>
            <a:ext cx="8229600" cy="435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Logging &amp; Governance Signals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65321" y="980963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F7173"/>
                </a:solidFill>
              </a:rPr>
              <a:t>If someone asks “What happened last Friday?” — the system can answer.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54842" y="1289303"/>
            <a:ext cx="4966693" cy="343964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27077" y="1308232"/>
            <a:ext cx="475488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1347264"/>
            <a:ext cx="4754880" cy="192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📊  NewsletterManager → Drafts Tab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746871"/>
            <a:ext cx="1115568" cy="292608"/>
          </a:xfrm>
          <a:prstGeom prst="rect">
            <a:avLst/>
          </a:prstGeom>
          <a:solidFill>
            <a:srgbClr val="EEF2F7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746871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B2A"/>
                </a:solidFill>
              </a:rPr>
              <a:t>Date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48640" y="2154436"/>
            <a:ext cx="1115568" cy="777240"/>
          </a:xfrm>
          <a:prstGeom prst="rect">
            <a:avLst/>
          </a:prstGeom>
          <a:solidFill>
            <a:srgbClr val="F8FAFC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183130"/>
            <a:ext cx="1115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$now.setZone('Africa/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Nairobi')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722348" y="1731312"/>
            <a:ext cx="1115568" cy="292608"/>
          </a:xfrm>
          <a:prstGeom prst="rect">
            <a:avLst/>
          </a:prstGeom>
          <a:solidFill>
            <a:srgbClr val="EEF2F7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05356" y="1739501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B2A"/>
                </a:solidFill>
              </a:rPr>
              <a:t>Successful Sources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705356" y="2151863"/>
            <a:ext cx="1115568" cy="777240"/>
          </a:xfrm>
          <a:prstGeom prst="rect">
            <a:avLst/>
          </a:prstGeom>
          <a:solidFill>
            <a:srgbClr val="F8FAFC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719072" y="2181765"/>
            <a:ext cx="1115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$json.output.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sources_used.join(',')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848629" y="1746871"/>
            <a:ext cx="1115568" cy="292608"/>
          </a:xfrm>
          <a:prstGeom prst="rect">
            <a:avLst/>
          </a:prstGeom>
          <a:solidFill>
            <a:srgbClr val="EEF2F7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815056" y="1746871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B2A"/>
                </a:solidFill>
              </a:rPr>
              <a:t>Draft Body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862072" y="2148409"/>
            <a:ext cx="1115568" cy="777240"/>
          </a:xfrm>
          <a:prstGeom prst="rect">
            <a:avLst/>
          </a:prstGeom>
          <a:solidFill>
            <a:srgbClr val="F8FAFC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884795" y="2194560"/>
            <a:ext cx="11155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$json.output.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newsletter_body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32504" y="1746871"/>
            <a:ext cx="1115568" cy="292608"/>
          </a:xfrm>
          <a:prstGeom prst="rect">
            <a:avLst/>
          </a:prstGeom>
          <a:solidFill>
            <a:srgbClr val="EEF2F7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022337" y="1746871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D1B2A"/>
                </a:solidFill>
              </a:rPr>
              <a:t>Model Used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022337" y="2154436"/>
            <a:ext cx="1115568" cy="777240"/>
          </a:xfrm>
          <a:prstGeom prst="rect">
            <a:avLst/>
          </a:prstGeom>
          <a:solidFill>
            <a:srgbClr val="F8FAFC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032504" y="2181766"/>
            <a:ext cx="1115568" cy="743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/ Fallback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name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58694" y="1719072"/>
            <a:ext cx="3228105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394960" y="1719072"/>
            <a:ext cx="3291840" cy="384048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394960" y="17190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Governance Signals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32120" y="22128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</a:rPr>
              <a:t>🕐  Execution timestamp (Nairobi TZ)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32120" y="2624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</a:rPr>
              <a:t>✅  Sources succeeded (e.g. 1/5)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532120" y="30358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</a:rPr>
              <a:t>📝  Full newsletter body stored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532120" y="3447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</a:rPr>
              <a:t>🤖  Which model generated output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532120" y="3858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</a:rPr>
              <a:t>📌  Status: primary or fallback path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54842" y="47137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</a:rPr>
              <a:t>The workflow is fully auditable after every execution. Leadership can see exactly what ran, what succeeded, and what model wrote the newsletter.</a:t>
            </a:r>
            <a:endParaRPr lang="en-US" sz="950"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E723D6D6-BCD2-4577-847D-C97B8E9D6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21" y="2935079"/>
            <a:ext cx="4838199" cy="17253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LIVE OUTPUT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Editor — Live Output Sample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500651" cy="3429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5120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173"/>
                </a:solidFill>
              </a:rPr>
              <a:t>Structured JSON Output (Chief Editor):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178308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"newsletter_title":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"Nairobi Nexus — Fibre Turf: 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Safaricom's $6 Play",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"newsletter_body":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"Quick hits from the streets 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of Nairobi.\n\nSafaricom just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rolled out a KES 800 Fibre 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Lite + Wi-Fi Bamba pilot...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Manze, this is Bazeng —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undercutting estate ISPs!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Poa sana for households,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Wueh! for competition.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Unaona?",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"sources_used": ["TechCabal"],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"word_count": 111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95011" y="1371600"/>
            <a:ext cx="4591789" cy="3429000"/>
          </a:xfrm>
          <a:prstGeom prst="rect">
            <a:avLst/>
          </a:prstGeom>
          <a:solidFill>
            <a:srgbClr val="0A1628"/>
          </a:solidFill>
          <a:ln w="12700">
            <a:solidFill>
              <a:srgbClr val="E9C46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760720" y="1371600"/>
            <a:ext cx="292608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9C46A"/>
                </a:solidFill>
              </a:rPr>
              <a:t>📧  Gmail Delivery Preview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solidFill>
            <a:srgbClr val="0A2540"/>
          </a:solidFill>
          <a:ln w="635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DD3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Sheets row logged:  2026-06-06 14:00  |  TechCabal (1/5)  |  [newsletter body]  |  gpt-4o-mini</a:t>
            </a:r>
            <a:endParaRPr lang="en-US" sz="8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D92B464-93ED-4451-B3DE-21F2213AA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9391" y="1664209"/>
            <a:ext cx="4449170" cy="3038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6657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665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COMPARISON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617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vs Production — What Changed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827532"/>
            <a:ext cx="1828800" cy="365760"/>
          </a:xfrm>
          <a:prstGeom prst="rect">
            <a:avLst/>
          </a:prstGeom>
          <a:solidFill>
            <a:srgbClr val="0D1B2A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827532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Dimension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286000" y="827532"/>
            <a:ext cx="3017520" cy="365760"/>
          </a:xfrm>
          <a:prstGeom prst="rect">
            <a:avLst/>
          </a:prstGeom>
          <a:solidFill>
            <a:srgbClr val="0D1B2A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59152" y="82753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Week 8 Prototype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94960" y="827532"/>
            <a:ext cx="3017520" cy="365760"/>
          </a:xfrm>
          <a:prstGeom prst="rect">
            <a:avLst/>
          </a:prstGeom>
          <a:solidFill>
            <a:srgbClr val="0D1B2A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68112" y="827532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Week 10 Production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193292"/>
            <a:ext cx="1828800" cy="640080"/>
          </a:xfrm>
          <a:prstGeom prst="rect">
            <a:avLst/>
          </a:prstGeom>
          <a:solidFill>
            <a:srgbClr val="F0F4F8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8912" y="119329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AI Output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86000" y="1193292"/>
            <a:ext cx="3017520" cy="640080"/>
          </a:xfrm>
          <a:prstGeom prst="rect">
            <a:avLst/>
          </a:prstGeom>
          <a:solidFill>
            <a:srgbClr val="F0F4F8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359152" y="1193292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1B2A"/>
                </a:solidFill>
              </a:rPr>
              <a:t>Free-form Markdown text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394960" y="1193292"/>
            <a:ext cx="3017520" cy="640080"/>
          </a:xfrm>
          <a:prstGeom prst="rect">
            <a:avLst/>
          </a:prstGeom>
          <a:solidFill>
            <a:srgbClr val="E8F7F0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68112" y="1193292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6B3C"/>
                </a:solidFill>
              </a:rPr>
              <a:t>Strict JSON via Structured Output Parser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5760" y="1833372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38912" y="183337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Chief Parser Schema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286000" y="1833372"/>
            <a:ext cx="30175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359152" y="1833372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1B2A"/>
                </a:solidFill>
              </a:rPr>
              <a:t>Wrong schema (article fields)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D1B2A"/>
                </a:solidFill>
              </a:rPr>
              <a:t>on newsletter output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394960" y="1833372"/>
            <a:ext cx="3017520" cy="640080"/>
          </a:xfrm>
          <a:prstGeom prst="rect">
            <a:avLst/>
          </a:prstGeom>
          <a:solidFill>
            <a:srgbClr val="E8F7F0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68112" y="1833372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6B3C"/>
                </a:solidFill>
              </a:rPr>
              <a:t>Correct schema: newsletter_title,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6B3C"/>
                </a:solidFill>
              </a:rPr>
              <a:t>newsletter_body, sources_used, word_count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2473452"/>
            <a:ext cx="1828800" cy="640080"/>
          </a:xfrm>
          <a:prstGeom prst="rect">
            <a:avLst/>
          </a:prstGeom>
          <a:solidFill>
            <a:srgbClr val="F0F4F8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38912" y="24734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Downstream Safety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286000" y="2473452"/>
            <a:ext cx="3017520" cy="640080"/>
          </a:xfrm>
          <a:prstGeom prst="rect">
            <a:avLst/>
          </a:prstGeom>
          <a:solidFill>
            <a:srgbClr val="F0F4F8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359152" y="2473452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1B2A"/>
                </a:solidFill>
              </a:rPr>
              <a:t>Sheets mapping guessed field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D1B2A"/>
                </a:solidFill>
              </a:rPr>
              <a:t>names — returned 'undefined'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394960" y="2473452"/>
            <a:ext cx="3017520" cy="640080"/>
          </a:xfrm>
          <a:prstGeom prst="rect">
            <a:avLst/>
          </a:prstGeom>
          <a:solidFill>
            <a:srgbClr val="E8F7F0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68112" y="2473452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6B3C"/>
                </a:solidFill>
              </a:rPr>
              <a:t>Reliable $json.output.newsletter_body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6B3C"/>
                </a:solidFill>
              </a:rPr>
              <a:t>reference — always resolves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113532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38912" y="311353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Model Fallback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286000" y="3113532"/>
            <a:ext cx="30175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359152" y="3113532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1B2A"/>
                </a:solidFill>
              </a:rPr>
              <a:t>Chief Editor only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394960" y="3113532"/>
            <a:ext cx="3017520" cy="640080"/>
          </a:xfrm>
          <a:prstGeom prst="rect">
            <a:avLst/>
          </a:prstGeom>
          <a:solidFill>
            <a:srgbClr val="E8F7F0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468112" y="3113532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6B3C"/>
                </a:solidFill>
              </a:rPr>
              <a:t>All 5 Field Reporters + Chief Editor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6B3C"/>
                </a:solidFill>
              </a:rPr>
              <a:t>have independent fallback models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3753612"/>
            <a:ext cx="1828800" cy="640080"/>
          </a:xfrm>
          <a:prstGeom prst="rect">
            <a:avLst/>
          </a:prstGeom>
          <a:solidFill>
            <a:srgbClr val="F0F4F8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38912" y="375361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Logging Depth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86000" y="3753612"/>
            <a:ext cx="3017520" cy="640080"/>
          </a:xfrm>
          <a:prstGeom prst="rect">
            <a:avLst/>
          </a:prstGeom>
          <a:solidFill>
            <a:srgbClr val="F0F4F8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359152" y="3753612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1B2A"/>
                </a:solidFill>
              </a:rPr>
              <a:t>Date + draft body only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394960" y="3753612"/>
            <a:ext cx="3017520" cy="640080"/>
          </a:xfrm>
          <a:prstGeom prst="rect">
            <a:avLst/>
          </a:prstGeom>
          <a:solidFill>
            <a:srgbClr val="E8F7F0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468112" y="3753612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6B3C"/>
                </a:solidFill>
              </a:rPr>
              <a:t>Date, sources count, newsletter title,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6B3C"/>
                </a:solidFill>
              </a:rPr>
              <a:t>body, model used — fully auditable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4393692"/>
            <a:ext cx="182880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38912" y="439369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B2A"/>
                </a:solidFill>
              </a:rPr>
              <a:t>Rate Limiting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286000" y="4393692"/>
            <a:ext cx="30175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2359152" y="4393692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D1B2A"/>
                </a:solidFill>
              </a:rPr>
              <a:t>5 agents firing simultaneously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D1B2A"/>
                </a:solidFill>
              </a:rPr>
              <a:t>caused API throttling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394960" y="4393692"/>
            <a:ext cx="3017520" cy="640080"/>
          </a:xfrm>
          <a:prstGeom prst="rect">
            <a:avLst/>
          </a:prstGeom>
          <a:solidFill>
            <a:srgbClr val="E8F7F0"/>
          </a:solidFill>
          <a:ln w="6350">
            <a:solidFill>
              <a:srgbClr val="DD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468112" y="4393692"/>
            <a:ext cx="2871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6B3C"/>
                </a:solidFill>
              </a:rPr>
              <a:t>executeOnce + proper branch isolation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6B3C"/>
                </a:solidFill>
              </a:rPr>
              <a:t>reduces concurrent calls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ROBUSTNESS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System Is More Robust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4023360" cy="1417320"/>
          </a:xfrm>
          <a:prstGeom prst="rect">
            <a:avLst/>
          </a:prstGeom>
          <a:solidFill>
            <a:srgbClr val="0A1E35"/>
          </a:solidFill>
          <a:ln w="12700">
            <a:solidFill>
              <a:srgbClr val="0F7173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1527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7173"/>
                </a:solidFill>
              </a:rPr>
              <a:t>Predictable AI Outputs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84248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BB0C8"/>
                </a:solidFill>
              </a:rPr>
              <a:t>JSON schema enforcement means any malformed response is caught at the parser — never silently passed downstream to break Gmail or Sheets.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4023360" cy="1417320"/>
          </a:xfrm>
          <a:prstGeom prst="rect">
            <a:avLst/>
          </a:prstGeom>
          <a:solidFill>
            <a:srgbClr val="0A1E35"/>
          </a:solidFill>
          <a:ln w="12700">
            <a:solidFill>
              <a:srgbClr val="E9C46A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349240" y="1527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C46A"/>
                </a:solidFill>
              </a:rPr>
              <a:t>Multi-Layer Fault Tolerance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1984248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BB0C8"/>
                </a:solidFill>
              </a:rPr>
              <a:t>HTTP safety + per-branch model fallbacks + Chief Editor fallback = 3 independent protection layers. A single failure cannot stop the workflow.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3017520"/>
            <a:ext cx="4023360" cy="1417320"/>
          </a:xfrm>
          <a:prstGeom prst="rect">
            <a:avLst/>
          </a:prstGeom>
          <a:solidFill>
            <a:srgbClr val="0A1E35"/>
          </a:solidFill>
          <a:ln w="12700">
            <a:solidFill>
              <a:srgbClr val="0F7173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05840" y="31272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7173"/>
                </a:solidFill>
              </a:rPr>
              <a:t>Deliberate Model Strategy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584448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BB0C8"/>
                </a:solidFill>
              </a:rPr>
              <a:t>Primary models chosen for quality (GPT-4o-mini). Fallbacks chosen for reliability (GPT-4-turbo via OpenRouter). The system decides — it doesn't hope.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0" y="3017520"/>
            <a:ext cx="4023360" cy="1417320"/>
          </a:xfrm>
          <a:prstGeom prst="rect">
            <a:avLst/>
          </a:prstGeom>
          <a:solidFill>
            <a:srgbClr val="0A1E35"/>
          </a:solidFill>
          <a:ln w="12700">
            <a:solidFill>
              <a:srgbClr val="E9C46A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920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349240" y="31272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C46A"/>
                </a:solidFill>
              </a:rPr>
              <a:t>Full Operational Visibility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3584448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BB0C8"/>
                </a:solidFill>
              </a:rPr>
              <a:t>Every run logs source count, model used, newsletter title, body and timestamp. Leadership can audit any Friday's run in under 30 seconds.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ASSESSMENT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Alignment — Week 10 (40 Points)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0690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406908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" y="1371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Structured AI Output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&amp; JSON Reliability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11880" y="1371600"/>
            <a:ext cx="822960" cy="45720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11880" y="13716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 pts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" y="1901952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Field Reporters: Structured Output Parser (source, headline, status schema)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Editor: Structured Output Parser (newsletter_title, newsletter_body, sources_used, word_count)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Malformed responses caught at parser — downstream nodes never receive bad data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681728" y="1371600"/>
            <a:ext cx="40690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81728" y="1371600"/>
            <a:ext cx="406908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91456" y="1371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Fault Tolerance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&amp; Resilient Design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927848" y="1371600"/>
            <a:ext cx="822960" cy="45720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927848" y="13716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 pts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91456" y="1901952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continueRegularOutput on all 5 HTTP nodes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Editor onError: continueErrorOutput → Backup Editor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Per-branch OpenRouter fallback models on all Field Reporters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executeOnce: true on Chief + Backup prevents duplicate newsletters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5760" y="3090672"/>
            <a:ext cx="40690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090672"/>
            <a:ext cx="406908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" y="3090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Model Selection,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Constraints &amp; Fallbacks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11880" y="3090672"/>
            <a:ext cx="822960" cy="45720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11880" y="30906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 pts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" y="3621024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GPT-4o-mini (quality), Fallback: GPT-4-turbo (reliability)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constraints: under 200 words, ≥3 Kenyan slang terms, Markdown format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Editor filters status==='success' — offline sources excluded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Error-triggered routing is deliberate and tested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681728" y="3090672"/>
            <a:ext cx="40690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81728" y="3090672"/>
            <a:ext cx="406908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91456" y="309067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Operational Logging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&amp; Governance Signals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927848" y="3090672"/>
            <a:ext cx="822960" cy="45720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927848" y="30906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 pts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91456" y="3621024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 Drafts tab: Date, Successful Sources, Draft Body, Model Used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sources_used array from structured output mapped to Sheets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timestamp in Africa/Nairobi timezone</a:t>
            </a:r>
            <a:endParaRPr lang="en-US" sz="8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fully auditable after each Friday run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463040" cy="2560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TEAM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217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Roles &amp; Contributions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319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931920" cy="5486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Anthony Waliaula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0" y="13716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7173"/>
                </a:solidFill>
              </a:rPr>
              <a:t>⚙️ Workflow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43803" y="2011680"/>
            <a:ext cx="3248167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workflow configuration &amp; architecture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HTTP + AI Agent branch setup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Parser schema design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fallback routing (OpenAI + OpenRouter)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Editor prompt engineering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 &amp; Gmail node configuration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JSON export &amp; testing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1371600"/>
            <a:ext cx="39319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  <a:prstDash val="solid"/>
          </a:ln>
          <a:effectLst>
            <a:outerShdw blurRad="76200" dist="254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54880" y="1371600"/>
            <a:ext cx="3931920" cy="54864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Anne Nyambura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0" y="13716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📝 Docs &amp; Slides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15552" y="2018504"/>
            <a:ext cx="3579808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documentation &amp; README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submission document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slide deck (this deck)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README and repo structure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Non-technical narrative and write-ups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architecture diagrams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review &amp; submission coordination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800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Submission deadline: Sunday 7th June 2026  •  Week 10 Final Capstone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🗞️ NAIROBI NEXUS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automate a happy path.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214884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system was designed for failure, uncertainty, and scale.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2971800"/>
            <a:ext cx="2743200" cy="27432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 Waliaula  •  Anne Nyambura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Final Capstone  •  n8n AI Workflow Engineering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F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Q&amp;A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297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7173"/>
                </a:solidFill>
              </a:rPr>
              <a:t>39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47365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Nodes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148840" y="4297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7173"/>
                </a:solidFill>
              </a:rPr>
              <a:t>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148840" y="47365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Sources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840480" y="4297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7173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840480" y="47365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Fault Layers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32120" y="4297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7173"/>
                </a:solidFill>
              </a:rPr>
              <a:t>100%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532120" y="47365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Structured Output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223760" y="4297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7173"/>
                </a:solidFill>
              </a:rPr>
              <a:t>2×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223760" y="47365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Model Fallbacks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1973</Words>
  <Application>Microsoft Office PowerPoint</Application>
  <PresentationFormat>On-screen Show (16:9)</PresentationFormat>
  <Paragraphs>394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Nairobi Nexus – Production-Grade AI Newsletter System</dc:title>
  <dc:subject>PptxGenJS Presentation</dc:subject>
  <dc:creator>PptxGenJS</dc:creator>
  <cp:lastModifiedBy>Anthony Waliaula</cp:lastModifiedBy>
  <cp:revision>6</cp:revision>
  <dcterms:created xsi:type="dcterms:W3CDTF">2026-06-05T11:38:16Z</dcterms:created>
  <dcterms:modified xsi:type="dcterms:W3CDTF">2026-06-06T12:16:53Z</dcterms:modified>
</cp:coreProperties>
</file>